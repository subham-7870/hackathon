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44" d="100"/>
          <a:sy n="44" d="100"/>
        </p:scale>
        <p:origin x="1500" y="37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IN" dirty="0"/>
              <a:t>Causes</a:t>
            </a:r>
            <a:r>
              <a:rPr lang="en-IN" baseline="0" dirty="0"/>
              <a:t> of Delays of Trains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N"/>
        </a:p>
      </c:txPr>
    </c:title>
    <c:autoTitleDeleted val="0"/>
    <c:plotArea>
      <c:layout>
        <c:manualLayout>
          <c:layoutTarget val="inner"/>
          <c:xMode val="edge"/>
          <c:yMode val="edge"/>
          <c:x val="0.18014467536878501"/>
          <c:y val="0.16151360933823483"/>
          <c:w val="0.7612335791968935"/>
          <c:h val="0.63554992231697383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Cause of Delays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Maintance</c:v>
                </c:pt>
                <c:pt idx="1">
                  <c:v>Derailing</c:v>
                </c:pt>
                <c:pt idx="2">
                  <c:v>Other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0.56999999999999995</c:v>
                </c:pt>
                <c:pt idx="1">
                  <c:v>0.26</c:v>
                </c:pt>
                <c:pt idx="2">
                  <c:v>0.27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BE0-4938-AE94-271024B00D8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Maintance</c:v>
                </c:pt>
                <c:pt idx="1">
                  <c:v>Derailing</c:v>
                </c:pt>
                <c:pt idx="2">
                  <c:v>Other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1-7BE0-4938-AE94-271024B00D8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Maintance</c:v>
                </c:pt>
                <c:pt idx="1">
                  <c:v>Derailing</c:v>
                </c:pt>
                <c:pt idx="2">
                  <c:v>Other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7BE0-4938-AE94-271024B00D8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598917167"/>
        <c:axId val="27982703"/>
      </c:barChart>
      <c:catAx>
        <c:axId val="59891716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7982703"/>
        <c:crosses val="autoZero"/>
        <c:auto val="1"/>
        <c:lblAlgn val="ctr"/>
        <c:lblOffset val="100"/>
        <c:noMultiLvlLbl val="0"/>
      </c:catAx>
      <c:valAx>
        <c:axId val="27982703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8917167"/>
        <c:crosses val="autoZero"/>
        <c:crossBetween val="between"/>
      </c:valAx>
      <c:spPr>
        <a:solidFill>
          <a:schemeClr val="bg1">
            <a:lumMod val="95000"/>
          </a:schemeClr>
        </a:solidFill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Train Delays Due to Mismanagement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121306594488189"/>
          <c:y val="0.13999217888827639"/>
          <c:w val="0.54136368110236222"/>
          <c:h val="0.81204547169995867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explosion val="13"/>
          <c:dPt>
            <c:idx val="0"/>
            <c:bubble3D val="0"/>
            <c:explosion val="1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F18-40C5-813B-AAAA525D7B96}"/>
              </c:ext>
            </c:extLst>
          </c:dPt>
          <c:dPt>
            <c:idx val="1"/>
            <c:bubble3D val="0"/>
            <c:explosion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F18-40C5-813B-AAAA525D7B96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</c:dPt>
          <c:cat>
            <c:strRef>
              <c:f>Sheet1!$A$2:$A$5</c:f>
              <c:strCache>
                <c:ptCount val="2"/>
                <c:pt idx="0">
                  <c:v>Maintanance</c:v>
                </c:pt>
                <c:pt idx="1">
                  <c:v>Other Causes</c:v>
                </c:pt>
              </c:strCache>
            </c:strRef>
          </c:cat>
          <c:val>
            <c:numRef>
              <c:f>Sheet1!$B$2:$B$5</c:f>
              <c:numCache>
                <c:formatCode>0%</c:formatCode>
                <c:ptCount val="4"/>
                <c:pt idx="0">
                  <c:v>0.15</c:v>
                </c:pt>
                <c:pt idx="1">
                  <c:v>0.85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18-40C5-813B-AAAA525D7B9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355375"/>
          <c:y val="0.93797515145330024"/>
          <c:w val="0.34957287852135766"/>
          <c:h val="4.79623494117649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6400" y="1129165"/>
            <a:ext cx="11719200" cy="5425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ID – SIH26027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Title-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Al-Powered Automatic Block Planning to Maximize Asset Availability for Train Operations on Indian Railways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Theme- </a:t>
            </a:r>
            <a:r>
              <a:rPr lang="en-IN" sz="2400" dirty="0"/>
              <a:t>Transportation &amp; Logistics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ID- 15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Name- Trailblazer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62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63787BF-AFF4-95A0-946C-2C758163DE0B}"/>
              </a:ext>
            </a:extLst>
          </p:cNvPr>
          <p:cNvSpPr/>
          <p:nvPr/>
        </p:nvSpPr>
        <p:spPr>
          <a:xfrm>
            <a:off x="10694486" y="708636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6965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Automatic Block Planning System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pic>
        <p:nvPicPr>
          <p:cNvPr id="12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E0561F-5E6C-45A3-04FB-44A072999B4C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4D857CF-FAD3-E38D-C5E9-707121C2D3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657" r="15541"/>
          <a:stretch>
            <a:fillRect/>
          </a:stretch>
        </p:blipFill>
        <p:spPr>
          <a:xfrm>
            <a:off x="2543741" y="1284848"/>
            <a:ext cx="7104515" cy="48648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63AA9D4E-B50B-5624-6799-A7B774D55CD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D7C0FE2-99BC-61BC-011F-3D2B95DCB30D}"/>
              </a:ext>
            </a:extLst>
          </p:cNvPr>
          <p:cNvCxnSpPr>
            <a:cxnSpLocks/>
          </p:cNvCxnSpPr>
          <p:nvPr/>
        </p:nvCxnSpPr>
        <p:spPr>
          <a:xfrm>
            <a:off x="6267449" y="2377440"/>
            <a:ext cx="0" cy="381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0433AFF-E9C5-C7B0-E238-21D7B69466D1}"/>
              </a:ext>
            </a:extLst>
          </p:cNvPr>
          <p:cNvSpPr txBox="1"/>
          <p:nvPr/>
        </p:nvSpPr>
        <p:spPr>
          <a:xfrm>
            <a:off x="1983979" y="2377440"/>
            <a:ext cx="394057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u="sng" dirty="0"/>
              <a:t>Development Layer</a:t>
            </a:r>
            <a:r>
              <a:rPr lang="en-IN" sz="2000" dirty="0"/>
              <a:t>: Antigravity (Visual Node-Based Architecture).   </a:t>
            </a:r>
            <a:r>
              <a:rPr lang="en-IN" sz="2000" b="1" u="sng" dirty="0"/>
              <a:t>AI Engine &amp; Logic</a:t>
            </a:r>
            <a:r>
              <a:rPr lang="en-IN" sz="2000" dirty="0"/>
              <a:t>: Google Vertex AI (Gemini API) and Python-based OR-Tools. </a:t>
            </a:r>
          </a:p>
          <a:p>
            <a:r>
              <a:rPr lang="en-IN" sz="2000" b="1" u="sng" dirty="0"/>
              <a:t>Database</a:t>
            </a:r>
            <a:r>
              <a:rPr lang="en-IN" sz="2000" dirty="0"/>
              <a:t>: PostgreSQL extended with </a:t>
            </a:r>
            <a:r>
              <a:rPr lang="en-IN" sz="2000" dirty="0" err="1"/>
              <a:t>PostGIS</a:t>
            </a:r>
            <a:r>
              <a:rPr lang="en-IN" sz="2000" dirty="0"/>
              <a:t> for geospatial track sector matching.</a:t>
            </a:r>
          </a:p>
          <a:p>
            <a:r>
              <a:rPr lang="en-IN" sz="2000" b="1" u="sng" dirty="0"/>
              <a:t>Frontend UI</a:t>
            </a:r>
            <a:r>
              <a:rPr lang="en-IN" sz="2000" dirty="0"/>
              <a:t>: React with Tailwind CSS and Frappe Gantt for timeline rendering.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BE20EA-7AD9-4D40-F720-8476B7072C04}"/>
              </a:ext>
            </a:extLst>
          </p:cNvPr>
          <p:cNvSpPr txBox="1"/>
          <p:nvPr/>
        </p:nvSpPr>
        <p:spPr>
          <a:xfrm>
            <a:off x="6566280" y="2382738"/>
            <a:ext cx="39405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/>
              <a:t>Step 1</a:t>
            </a:r>
            <a:r>
              <a:rPr lang="en-US" sz="2000" dirty="0"/>
              <a:t>: Aggregate maintenance data and use AI to find overlapping track sectors. </a:t>
            </a:r>
          </a:p>
          <a:p>
            <a:r>
              <a:rPr lang="en-US" sz="2000" b="1" u="sng" dirty="0"/>
              <a:t>Step 2</a:t>
            </a:r>
            <a:r>
              <a:rPr lang="en-US" sz="2000" dirty="0"/>
              <a:t>: Merge department requests (Track, Signal) into parallel blocks to save time.</a:t>
            </a:r>
          </a:p>
          <a:p>
            <a:r>
              <a:rPr lang="en-US" sz="2000" b="1" u="sng" dirty="0"/>
              <a:t>Step 3</a:t>
            </a:r>
            <a:r>
              <a:rPr lang="en-US" sz="2000" dirty="0"/>
              <a:t>: Fit these optimized blocks into the Control Office's clear train windows. </a:t>
            </a:r>
          </a:p>
          <a:p>
            <a:r>
              <a:rPr lang="en-US" sz="2000" b="1" u="sng" dirty="0"/>
              <a:t>Step 4</a:t>
            </a:r>
            <a:r>
              <a:rPr lang="en-US" sz="2000" dirty="0"/>
              <a:t>: Output the synchronized schedule to a live, interactive Gantt dashboard.</a:t>
            </a:r>
            <a:endParaRPr lang="en-IN" sz="20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4A7B2D8-65FC-3444-846B-DA8FCC66D4DC}"/>
              </a:ext>
            </a:extLst>
          </p:cNvPr>
          <p:cNvSpPr txBox="1"/>
          <p:nvPr/>
        </p:nvSpPr>
        <p:spPr>
          <a:xfrm>
            <a:off x="933300" y="1853425"/>
            <a:ext cx="531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BDCCEE9-0C70-A721-7846-2B321E55222F}"/>
              </a:ext>
            </a:extLst>
          </p:cNvPr>
          <p:cNvSpPr txBox="1"/>
          <p:nvPr/>
        </p:nvSpPr>
        <p:spPr>
          <a:xfrm>
            <a:off x="6669939" y="1853425"/>
            <a:ext cx="373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BE5D053-1493-8276-1393-3BF738F984ED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51A0B9B-F1CD-AA9A-A335-BBFE41979E42}"/>
              </a:ext>
            </a:extLst>
          </p:cNvPr>
          <p:cNvSpPr txBox="1"/>
          <p:nvPr/>
        </p:nvSpPr>
        <p:spPr>
          <a:xfrm>
            <a:off x="728714" y="2828835"/>
            <a:ext cx="32455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b="0" u="none" dirty="0"/>
              <a:t>Highly feasible our software connects existing railway databases via AI APIs, requiring zero new hardware.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7E400-1109-6686-8A0B-2AC6C43DA669}"/>
              </a:ext>
            </a:extLst>
          </p:cNvPr>
          <p:cNvSpPr txBox="1"/>
          <p:nvPr/>
        </p:nvSpPr>
        <p:spPr>
          <a:xfrm>
            <a:off x="4355247" y="2828835"/>
            <a:ext cx="31522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 u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Inaccurate real-time train data from legacy systems and crew resistance to adopting an automated tool.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588893E-425E-E8FE-7A04-ECADE46076DD}"/>
              </a:ext>
            </a:extLst>
          </p:cNvPr>
          <p:cNvSpPr txBox="1"/>
          <p:nvPr/>
        </p:nvSpPr>
        <p:spPr>
          <a:xfrm>
            <a:off x="8101300" y="2828835"/>
            <a:ext cx="315226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000" b="0" u="none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Adding dynamic time buffers to safely absorb data delays and designing a frictionless, zero-training dashboard.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D63EA2A-96EC-B828-642B-3B13F683791A}"/>
              </a:ext>
            </a:extLst>
          </p:cNvPr>
          <p:cNvCxnSpPr/>
          <p:nvPr/>
        </p:nvCxnSpPr>
        <p:spPr>
          <a:xfrm>
            <a:off x="4186991" y="2390271"/>
            <a:ext cx="0" cy="270710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B35E7D9-4DC8-5115-3BF2-0C24D11E7E23}"/>
              </a:ext>
            </a:extLst>
          </p:cNvPr>
          <p:cNvCxnSpPr>
            <a:cxnSpLocks/>
          </p:cNvCxnSpPr>
          <p:nvPr/>
        </p:nvCxnSpPr>
        <p:spPr>
          <a:xfrm>
            <a:off x="7720280" y="2352761"/>
            <a:ext cx="0" cy="27446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83C01B3-930C-A0AD-EA63-8AA62C172B76}"/>
              </a:ext>
            </a:extLst>
          </p:cNvPr>
          <p:cNvSpPr txBox="1"/>
          <p:nvPr/>
        </p:nvSpPr>
        <p:spPr>
          <a:xfrm>
            <a:off x="417326" y="2091151"/>
            <a:ext cx="38682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Feasibility Analysis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5079EDC-2EF6-96FF-D85B-30B535CAA55D}"/>
              </a:ext>
            </a:extLst>
          </p:cNvPr>
          <p:cNvSpPr txBox="1"/>
          <p:nvPr/>
        </p:nvSpPr>
        <p:spPr>
          <a:xfrm>
            <a:off x="4285620" y="2091151"/>
            <a:ext cx="336773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Potential Challenges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BDEE60-278B-6E44-6588-A06A166470CA}"/>
              </a:ext>
            </a:extLst>
          </p:cNvPr>
          <p:cNvSpPr txBox="1"/>
          <p:nvPr/>
        </p:nvSpPr>
        <p:spPr>
          <a:xfrm>
            <a:off x="7857588" y="2128661"/>
            <a:ext cx="304699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algn="ctr">
              <a:defRPr sz="2800" b="1" u="sng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IN" dirty="0"/>
              <a:t>Risk Mitigation</a:t>
            </a:r>
          </a:p>
        </p:txBody>
      </p:sp>
      <p:sp>
        <p:nvSpPr>
          <p:cNvPr id="22" name="Oval 21" descr="Your startup LOGO">
            <a:extLst>
              <a:ext uri="{FF2B5EF4-FFF2-40B4-BE49-F238E27FC236}">
                <a16:creationId xmlns:a16="http://schemas.microsoft.com/office/drawing/2014/main" id="{394A6E8F-93F1-FAA7-6F2E-D13537D6099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D4C179A-4839-F097-48B1-CA58F7EBCADF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9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72C4E45-E74E-2EBB-0679-587318218C0C}"/>
              </a:ext>
            </a:extLst>
          </p:cNvPr>
          <p:cNvSpPr txBox="1"/>
          <p:nvPr/>
        </p:nvSpPr>
        <p:spPr>
          <a:xfrm>
            <a:off x="1879457" y="2816072"/>
            <a:ext cx="394057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Passengers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Ensures on-time travel and drastically reduces unexpected wait times.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Railways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Maximizes track availability and streamlines maintenance operations.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B21C63-C349-4F68-5BBE-DA2999A388B7}"/>
              </a:ext>
            </a:extLst>
          </p:cNvPr>
          <p:cNvSpPr txBox="1"/>
          <p:nvPr/>
        </p:nvSpPr>
        <p:spPr>
          <a:xfrm>
            <a:off x="7066547" y="2551837"/>
            <a:ext cx="3733245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Increases revenue by slashing track downtime and reducing heavy equipment costs.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Boosts commuter safety and satisfaction by eliminating manual planning errors. </a:t>
            </a:r>
          </a:p>
          <a:p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Reduces carbon emissions by minimizing train idling during track bottlenecks.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CA0932-58D6-3854-FBC0-FAEE35819AE7}"/>
              </a:ext>
            </a:extLst>
          </p:cNvPr>
          <p:cNvCxnSpPr>
            <a:cxnSpLocks/>
          </p:cNvCxnSpPr>
          <p:nvPr/>
        </p:nvCxnSpPr>
        <p:spPr>
          <a:xfrm>
            <a:off x="6095999" y="1760220"/>
            <a:ext cx="0" cy="3810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5131B3C-65EB-C654-C2B4-001CB66BEEBE}"/>
              </a:ext>
            </a:extLst>
          </p:cNvPr>
          <p:cNvSpPr txBox="1"/>
          <p:nvPr/>
        </p:nvSpPr>
        <p:spPr>
          <a:xfrm>
            <a:off x="779099" y="1853425"/>
            <a:ext cx="53169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682801-AFC3-744C-DDC5-1787D33DA5C8}"/>
              </a:ext>
            </a:extLst>
          </p:cNvPr>
          <p:cNvSpPr txBox="1"/>
          <p:nvPr/>
        </p:nvSpPr>
        <p:spPr>
          <a:xfrm>
            <a:off x="6962413" y="1858544"/>
            <a:ext cx="373325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solution</a:t>
            </a:r>
          </a:p>
        </p:txBody>
      </p:sp>
      <p:sp>
        <p:nvSpPr>
          <p:cNvPr id="18" name="Oval 17" descr="Your startup LOGO">
            <a:extLst>
              <a:ext uri="{FF2B5EF4-FFF2-40B4-BE49-F238E27FC236}">
                <a16:creationId xmlns:a16="http://schemas.microsoft.com/office/drawing/2014/main" id="{144A2E92-A494-0EAC-F50B-991A5E67303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2452D8-D389-0E2C-3BB7-C69D6B33842B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2" descr="https://www.sih.gov.in/img1/SIH-Logo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1366" y="57097"/>
            <a:ext cx="2209120" cy="1122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Oval 1" descr="Your startup LOGO">
            <a:extLst>
              <a:ext uri="{FF2B5EF4-FFF2-40B4-BE49-F238E27FC236}">
                <a16:creationId xmlns:a16="http://schemas.microsoft.com/office/drawing/2014/main" id="{FA5BD8E4-8841-DA69-7835-5C31696D5C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6666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Trailblazer</a:t>
            </a:r>
            <a:endParaRPr lang="en-IN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246679-B92E-D591-C57B-2620455E4C98}"/>
              </a:ext>
            </a:extLst>
          </p:cNvPr>
          <p:cNvSpPr/>
          <p:nvPr/>
        </p:nvSpPr>
        <p:spPr>
          <a:xfrm>
            <a:off x="10789372" y="742962"/>
            <a:ext cx="1261114" cy="3368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aphicFrame>
        <p:nvGraphicFramePr>
          <p:cNvPr id="17" name="Chart 16">
            <a:extLst>
              <a:ext uri="{FF2B5EF4-FFF2-40B4-BE49-F238E27FC236}">
                <a16:creationId xmlns:a16="http://schemas.microsoft.com/office/drawing/2014/main" id="{A7957AC6-A270-72A6-F26A-E9391A57A6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4598265"/>
              </p:ext>
            </p:extLst>
          </p:nvPr>
        </p:nvGraphicFramePr>
        <p:xfrm>
          <a:off x="6867939" y="1327189"/>
          <a:ext cx="4840354" cy="42036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36" name="Chart 35">
            <a:extLst>
              <a:ext uri="{FF2B5EF4-FFF2-40B4-BE49-F238E27FC236}">
                <a16:creationId xmlns:a16="http://schemas.microsoft.com/office/drawing/2014/main" id="{22D76FAB-4D15-2C0E-8F6A-F6DD9FD678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9053061"/>
              </p:ext>
            </p:extLst>
          </p:nvPr>
        </p:nvGraphicFramePr>
        <p:xfrm>
          <a:off x="483707" y="1252330"/>
          <a:ext cx="6290365" cy="4203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7" name="TextBox 36">
            <a:extLst>
              <a:ext uri="{FF2B5EF4-FFF2-40B4-BE49-F238E27FC236}">
                <a16:creationId xmlns:a16="http://schemas.microsoft.com/office/drawing/2014/main" id="{D531CE44-EB5A-4622-011C-0B4777CEB257}"/>
              </a:ext>
            </a:extLst>
          </p:cNvPr>
          <p:cNvSpPr txBox="1"/>
          <p:nvPr/>
        </p:nvSpPr>
        <p:spPr>
          <a:xfrm>
            <a:off x="4356293" y="1842917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</a:rPr>
              <a:t>15%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73C8092-2A64-3E4C-C3C4-947F1FD44F6F}"/>
              </a:ext>
            </a:extLst>
          </p:cNvPr>
          <p:cNvSpPr txBox="1"/>
          <p:nvPr/>
        </p:nvSpPr>
        <p:spPr>
          <a:xfrm>
            <a:off x="5049226" y="3259723"/>
            <a:ext cx="54053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solidFill>
                  <a:schemeClr val="bg1">
                    <a:lumMod val="50000"/>
                  </a:schemeClr>
                </a:solidFill>
              </a:rPr>
              <a:t>85%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7650</TotalTime>
  <Words>350</Words>
  <Application>Microsoft Office PowerPoint</Application>
  <PresentationFormat>Widescreen</PresentationFormat>
  <Paragraphs>59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Automatic Block Planning System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Sangeeta Saxena</cp:lastModifiedBy>
  <cp:revision>150</cp:revision>
  <dcterms:created xsi:type="dcterms:W3CDTF">2013-12-12T18:46:50Z</dcterms:created>
  <dcterms:modified xsi:type="dcterms:W3CDTF">2026-08-22T20:20:49Z</dcterms:modified>
  <cp:category/>
</cp:coreProperties>
</file>