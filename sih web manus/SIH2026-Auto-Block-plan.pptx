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6" d="100"/>
          <a:sy n="56" d="100"/>
        </p:scale>
        <p:origin x="1044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Train Delays Due to Mismanagement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121306594488189"/>
          <c:y val="0.13999217888827639"/>
          <c:w val="0.54136368110236222"/>
          <c:h val="0.8120454716999586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13"/>
          <c:dPt>
            <c:idx val="0"/>
            <c:bubble3D val="0"/>
            <c:explosion val="1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F18-40C5-813B-AAAA525D7B96}"/>
              </c:ext>
            </c:extLst>
          </c:dPt>
          <c:dPt>
            <c:idx val="1"/>
            <c:bubble3D val="0"/>
            <c:explosion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F18-40C5-813B-AAAA525D7B9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2"/>
                <c:pt idx="0">
                  <c:v>Maintanance</c:v>
                </c:pt>
                <c:pt idx="1">
                  <c:v>Other Causes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0.15</c:v>
                </c:pt>
                <c:pt idx="1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18-40C5-813B-AAAA525D7B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55375"/>
          <c:y val="0.93797515145330024"/>
          <c:w val="0.34957287852135766"/>
          <c:h val="4.79623494117649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6400" y="1129165"/>
            <a:ext cx="11719200" cy="5169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SIH26027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Al-Powered Automatic Block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to Maximize Asset Availability for Train Operations 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Indian Railways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IN" sz="2000" dirty="0"/>
              <a:t>Transportation &amp; Logistics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ID- 15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Name- Trailblazer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3787BF-AFF4-95A0-946C-2C758163DE0B}"/>
              </a:ext>
            </a:extLst>
          </p:cNvPr>
          <p:cNvSpPr/>
          <p:nvPr/>
        </p:nvSpPr>
        <p:spPr>
          <a:xfrm>
            <a:off x="10694486" y="708636"/>
            <a:ext cx="1261114" cy="3368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600" y="36965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Automatic Block Planning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6666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Trailblazer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E0561F-5E6C-45A3-04FB-44A072999B4C}"/>
              </a:ext>
            </a:extLst>
          </p:cNvPr>
          <p:cNvSpPr/>
          <p:nvPr/>
        </p:nvSpPr>
        <p:spPr>
          <a:xfrm>
            <a:off x="10789372" y="742962"/>
            <a:ext cx="1261114" cy="3368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D857CF-FAD3-E38D-C5E9-707121C2D3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657" r="15541"/>
          <a:stretch>
            <a:fillRect/>
          </a:stretch>
        </p:blipFill>
        <p:spPr>
          <a:xfrm>
            <a:off x="2543741" y="1284848"/>
            <a:ext cx="7104515" cy="48648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63AA9D4E-B50B-5624-6799-A7B774D55C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6666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Trailblazer</a:t>
            </a:r>
            <a:endParaRPr lang="en-IN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D7C0FE2-99BC-61BC-011F-3D2B95DCB30D}"/>
              </a:ext>
            </a:extLst>
          </p:cNvPr>
          <p:cNvCxnSpPr>
            <a:cxnSpLocks/>
          </p:cNvCxnSpPr>
          <p:nvPr/>
        </p:nvCxnSpPr>
        <p:spPr>
          <a:xfrm>
            <a:off x="6267449" y="2377440"/>
            <a:ext cx="0" cy="381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433AFF-E9C5-C7B0-E238-21D7B69466D1}"/>
              </a:ext>
            </a:extLst>
          </p:cNvPr>
          <p:cNvSpPr txBox="1"/>
          <p:nvPr/>
        </p:nvSpPr>
        <p:spPr>
          <a:xfrm>
            <a:off x="1983979" y="2377440"/>
            <a:ext cx="394057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Backend &amp; API Layer</a:t>
            </a:r>
            <a:r>
              <a:rPr lang="en-IN" sz="2000" dirty="0"/>
              <a:t>: Python with </a:t>
            </a:r>
            <a:r>
              <a:rPr lang="en-IN" sz="2000" dirty="0" err="1"/>
              <a:t>FastAPI</a:t>
            </a:r>
            <a:r>
              <a:rPr lang="en-IN" sz="2000" dirty="0"/>
              <a:t> (for High Performance).</a:t>
            </a:r>
          </a:p>
          <a:p>
            <a:r>
              <a:rPr lang="en-IN" sz="2000" b="1" u="sng" dirty="0"/>
              <a:t>AI Engine &amp; Logic</a:t>
            </a:r>
            <a:r>
              <a:rPr lang="en-IN" sz="2000" dirty="0"/>
              <a:t>: Google Vertex AI (Gemini API) and Python-based OR-Tools. </a:t>
            </a:r>
          </a:p>
          <a:p>
            <a:r>
              <a:rPr lang="en-IN" sz="2000" b="1" u="sng" dirty="0"/>
              <a:t>Database</a:t>
            </a:r>
            <a:r>
              <a:rPr lang="en-IN" sz="2000" dirty="0"/>
              <a:t>: PostgreSQL extended with </a:t>
            </a:r>
            <a:r>
              <a:rPr lang="en-IN" sz="2000" dirty="0" err="1"/>
              <a:t>PostGIS</a:t>
            </a:r>
            <a:r>
              <a:rPr lang="en-IN" sz="2000" dirty="0"/>
              <a:t> for geospatial track sector matching.</a:t>
            </a:r>
          </a:p>
          <a:p>
            <a:r>
              <a:rPr lang="en-IN" sz="2000" b="1" u="sng" dirty="0"/>
              <a:t>Frontend UI</a:t>
            </a:r>
            <a:r>
              <a:rPr lang="en-IN" sz="2000" dirty="0"/>
              <a:t>: React with Tailwind CSS and Frappe Gantt for timeline rendering.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BE20EA-7AD9-4D40-F720-8476B7072C04}"/>
              </a:ext>
            </a:extLst>
          </p:cNvPr>
          <p:cNvSpPr txBox="1"/>
          <p:nvPr/>
        </p:nvSpPr>
        <p:spPr>
          <a:xfrm>
            <a:off x="6566280" y="2382738"/>
            <a:ext cx="39405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Step 1</a:t>
            </a:r>
            <a:r>
              <a:rPr lang="en-US" sz="2000" dirty="0"/>
              <a:t>: Aggregate maintenance data and use AI to find overlapping track sectors. </a:t>
            </a:r>
          </a:p>
          <a:p>
            <a:r>
              <a:rPr lang="en-US" sz="2000" b="1" u="sng" dirty="0"/>
              <a:t>Step 2</a:t>
            </a:r>
            <a:r>
              <a:rPr lang="en-US" sz="2000" dirty="0"/>
              <a:t>: Merge department requests (Track, Signal) into parallel blocks to save time.</a:t>
            </a:r>
          </a:p>
          <a:p>
            <a:r>
              <a:rPr lang="en-US" sz="2000" b="1" u="sng" dirty="0"/>
              <a:t>Step 3</a:t>
            </a:r>
            <a:r>
              <a:rPr lang="en-US" sz="2000" dirty="0"/>
              <a:t>: Fit these optimized blocks into the Control Office's clear train windows. </a:t>
            </a:r>
          </a:p>
          <a:p>
            <a:r>
              <a:rPr lang="en-US" sz="2000" b="1" u="sng" dirty="0"/>
              <a:t>Step 4</a:t>
            </a:r>
            <a:r>
              <a:rPr lang="en-US" sz="2000" dirty="0"/>
              <a:t>: Output the synchronized schedule to a live, interactive Gantt dashboard.</a:t>
            </a:r>
            <a:endParaRPr lang="en-IN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A7B2D8-65FC-3444-846B-DA8FCC66D4DC}"/>
              </a:ext>
            </a:extLst>
          </p:cNvPr>
          <p:cNvSpPr txBox="1"/>
          <p:nvPr/>
        </p:nvSpPr>
        <p:spPr>
          <a:xfrm>
            <a:off x="933300" y="1853425"/>
            <a:ext cx="5316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DCCEE9-0C70-A721-7846-2B321E55222F}"/>
              </a:ext>
            </a:extLst>
          </p:cNvPr>
          <p:cNvSpPr txBox="1"/>
          <p:nvPr/>
        </p:nvSpPr>
        <p:spPr>
          <a:xfrm>
            <a:off x="6669939" y="1853425"/>
            <a:ext cx="37332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E5D053-1493-8276-1393-3BF738F984ED}"/>
              </a:ext>
            </a:extLst>
          </p:cNvPr>
          <p:cNvSpPr/>
          <p:nvPr/>
        </p:nvSpPr>
        <p:spPr>
          <a:xfrm>
            <a:off x="10789372" y="742962"/>
            <a:ext cx="1261114" cy="3368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055D64-C0E7-7586-F9E5-686719BBB0AE}"/>
              </a:ext>
            </a:extLst>
          </p:cNvPr>
          <p:cNvSpPr txBox="1"/>
          <p:nvPr/>
        </p:nvSpPr>
        <p:spPr>
          <a:xfrm>
            <a:off x="1501065" y="1102858"/>
            <a:ext cx="91898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Development with Human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1A0B9B-F1CD-AA9A-A335-BBFE41979E42}"/>
              </a:ext>
            </a:extLst>
          </p:cNvPr>
          <p:cNvSpPr txBox="1"/>
          <p:nvPr/>
        </p:nvSpPr>
        <p:spPr>
          <a:xfrm>
            <a:off x="728714" y="2828835"/>
            <a:ext cx="32455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 u="sng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b="0" u="none" dirty="0"/>
              <a:t>Highly feasible our software connects existing railway databases via AI APIs, requiring zero new hardware.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7E400-1109-6686-8A0B-2AC6C43DA669}"/>
              </a:ext>
            </a:extLst>
          </p:cNvPr>
          <p:cNvSpPr txBox="1"/>
          <p:nvPr/>
        </p:nvSpPr>
        <p:spPr>
          <a:xfrm>
            <a:off x="4355247" y="2828835"/>
            <a:ext cx="31522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 u="none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Inaccurate real-time train data from legacy systems and crew resistance to adopting an automated tool.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88893E-425E-E8FE-7A04-ECADE46076DD}"/>
              </a:ext>
            </a:extLst>
          </p:cNvPr>
          <p:cNvSpPr txBox="1"/>
          <p:nvPr/>
        </p:nvSpPr>
        <p:spPr>
          <a:xfrm>
            <a:off x="8101300" y="2828835"/>
            <a:ext cx="31522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 u="none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Adding dynamic time buffers to safely absorb data delays and designing a frictionless, zero-training dashboard.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D63EA2A-96EC-B828-642B-3B13F683791A}"/>
              </a:ext>
            </a:extLst>
          </p:cNvPr>
          <p:cNvCxnSpPr/>
          <p:nvPr/>
        </p:nvCxnSpPr>
        <p:spPr>
          <a:xfrm>
            <a:off x="4186991" y="2390271"/>
            <a:ext cx="0" cy="27071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35E7D9-4DC8-5115-3BF2-0C24D11E7E23}"/>
              </a:ext>
            </a:extLst>
          </p:cNvPr>
          <p:cNvCxnSpPr>
            <a:cxnSpLocks/>
          </p:cNvCxnSpPr>
          <p:nvPr/>
        </p:nvCxnSpPr>
        <p:spPr>
          <a:xfrm>
            <a:off x="7720280" y="2352761"/>
            <a:ext cx="0" cy="2744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83C01B3-930C-A0AD-EA63-8AA62C172B76}"/>
              </a:ext>
            </a:extLst>
          </p:cNvPr>
          <p:cNvSpPr txBox="1"/>
          <p:nvPr/>
        </p:nvSpPr>
        <p:spPr>
          <a:xfrm>
            <a:off x="417326" y="2091151"/>
            <a:ext cx="38682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800" b="1" u="sng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Feasibility Analysis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079EDC-2EF6-96FF-D85B-30B535CAA55D}"/>
              </a:ext>
            </a:extLst>
          </p:cNvPr>
          <p:cNvSpPr txBox="1"/>
          <p:nvPr/>
        </p:nvSpPr>
        <p:spPr>
          <a:xfrm>
            <a:off x="4285620" y="2091151"/>
            <a:ext cx="33677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800" b="1" u="sng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Potential Challenges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BDEE60-278B-6E44-6588-A06A166470CA}"/>
              </a:ext>
            </a:extLst>
          </p:cNvPr>
          <p:cNvSpPr txBox="1"/>
          <p:nvPr/>
        </p:nvSpPr>
        <p:spPr>
          <a:xfrm>
            <a:off x="7857588" y="2128661"/>
            <a:ext cx="3046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800" b="1" u="sng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Risk Mitigation</a:t>
            </a:r>
          </a:p>
        </p:txBody>
      </p:sp>
      <p:sp>
        <p:nvSpPr>
          <p:cNvPr id="22" name="Oval 21" descr="Your startup LOGO">
            <a:extLst>
              <a:ext uri="{FF2B5EF4-FFF2-40B4-BE49-F238E27FC236}">
                <a16:creationId xmlns:a16="http://schemas.microsoft.com/office/drawing/2014/main" id="{394A6E8F-93F1-FAA7-6F2E-D13537D609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6666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Trailblazer</a:t>
            </a:r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4C179A-4839-F097-48B1-CA58F7EBCADF}"/>
              </a:ext>
            </a:extLst>
          </p:cNvPr>
          <p:cNvSpPr/>
          <p:nvPr/>
        </p:nvSpPr>
        <p:spPr>
          <a:xfrm>
            <a:off x="10789372" y="742962"/>
            <a:ext cx="1261114" cy="3368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2C4E45-E74E-2EBB-0679-587318218C0C}"/>
              </a:ext>
            </a:extLst>
          </p:cNvPr>
          <p:cNvSpPr txBox="1"/>
          <p:nvPr/>
        </p:nvSpPr>
        <p:spPr>
          <a:xfrm>
            <a:off x="1879457" y="2816072"/>
            <a:ext cx="39405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Passengers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Ensures on-time travel and drastically reduces unexpected wait times. </a:t>
            </a: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Railways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Maximizes track availability and streamlines maintenance operations.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B21C63-C349-4F68-5BBE-DA2999A388B7}"/>
              </a:ext>
            </a:extLst>
          </p:cNvPr>
          <p:cNvSpPr txBox="1"/>
          <p:nvPr/>
        </p:nvSpPr>
        <p:spPr>
          <a:xfrm>
            <a:off x="7066547" y="2551837"/>
            <a:ext cx="37332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Increases revenue by slashing track downtime and reducing heavy equipment costs.</a:t>
            </a: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Boosts commuter safety and satisfaction by eliminating manual planning errors. </a:t>
            </a: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Reduces carbon emissions by minimizing train idling during track bottlenecks.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A0932-58D6-3854-FBC0-FAEE35819AE7}"/>
              </a:ext>
            </a:extLst>
          </p:cNvPr>
          <p:cNvCxnSpPr>
            <a:cxnSpLocks/>
          </p:cNvCxnSpPr>
          <p:nvPr/>
        </p:nvCxnSpPr>
        <p:spPr>
          <a:xfrm>
            <a:off x="6095999" y="1760220"/>
            <a:ext cx="0" cy="381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5131B3C-65EB-C654-C2B4-001CB66BEEBE}"/>
              </a:ext>
            </a:extLst>
          </p:cNvPr>
          <p:cNvSpPr txBox="1"/>
          <p:nvPr/>
        </p:nvSpPr>
        <p:spPr>
          <a:xfrm>
            <a:off x="779099" y="1853425"/>
            <a:ext cx="5316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682801-AFC3-744C-DDC5-1787D33DA5C8}"/>
              </a:ext>
            </a:extLst>
          </p:cNvPr>
          <p:cNvSpPr txBox="1"/>
          <p:nvPr/>
        </p:nvSpPr>
        <p:spPr>
          <a:xfrm>
            <a:off x="6962413" y="1858544"/>
            <a:ext cx="37332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the solution</a:t>
            </a:r>
          </a:p>
        </p:txBody>
      </p:sp>
      <p:sp>
        <p:nvSpPr>
          <p:cNvPr id="18" name="Oval 17" descr="Your startup LOGO">
            <a:extLst>
              <a:ext uri="{FF2B5EF4-FFF2-40B4-BE49-F238E27FC236}">
                <a16:creationId xmlns:a16="http://schemas.microsoft.com/office/drawing/2014/main" id="{144A2E92-A494-0EAC-F50B-991A5E67303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6666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Trailblazer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2452D8-D389-0E2C-3BB7-C69D6B33842B}"/>
              </a:ext>
            </a:extLst>
          </p:cNvPr>
          <p:cNvSpPr/>
          <p:nvPr/>
        </p:nvSpPr>
        <p:spPr>
          <a:xfrm>
            <a:off x="10789372" y="742962"/>
            <a:ext cx="1261114" cy="3368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FA5BD8E4-8841-DA69-7835-5C31696D5C5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6666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Trailblazer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246679-B92E-D591-C57B-2620455E4C98}"/>
              </a:ext>
            </a:extLst>
          </p:cNvPr>
          <p:cNvSpPr/>
          <p:nvPr/>
        </p:nvSpPr>
        <p:spPr>
          <a:xfrm>
            <a:off x="10789372" y="742962"/>
            <a:ext cx="1261114" cy="3368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22D76FAB-4D15-2C0E-8F6A-F6DD9FD678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9053061"/>
              </p:ext>
            </p:extLst>
          </p:nvPr>
        </p:nvGraphicFramePr>
        <p:xfrm>
          <a:off x="483707" y="1252330"/>
          <a:ext cx="6290365" cy="4203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D531CE44-EB5A-4622-011C-0B4777CEB257}"/>
              </a:ext>
            </a:extLst>
          </p:cNvPr>
          <p:cNvSpPr txBox="1"/>
          <p:nvPr/>
        </p:nvSpPr>
        <p:spPr>
          <a:xfrm>
            <a:off x="4356293" y="1842917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</a:rPr>
              <a:t>15%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3C8092-2A64-3E4C-C3C4-947F1FD44F6F}"/>
              </a:ext>
            </a:extLst>
          </p:cNvPr>
          <p:cNvSpPr txBox="1"/>
          <p:nvPr/>
        </p:nvSpPr>
        <p:spPr>
          <a:xfrm>
            <a:off x="5049226" y="3259723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</a:rPr>
              <a:t>85%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0D7014-1734-6D4A-D809-87BDD62F12C2}"/>
              </a:ext>
            </a:extLst>
          </p:cNvPr>
          <p:cNvSpPr txBox="1"/>
          <p:nvPr/>
        </p:nvSpPr>
        <p:spPr>
          <a:xfrm>
            <a:off x="7212681" y="1297941"/>
            <a:ext cx="373324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Preventable Crisis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While 85% of delays are caused by uncontrollable factors (weather, derailing), 15% are entirely due to manual planning mismanagement.​</a:t>
            </a: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disconnect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Current legacy systems (TMS, SMMS,TDMS) fail to communicate, causing multiple, separate track blockages for the same geographic sector.​</a:t>
            </a: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AI Target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Our AI specifically targets this 15% segment, converting manual guesswork into automated, parallel scheduling.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8177</TotalTime>
  <Words>435</Words>
  <Application>Microsoft Office PowerPoint</Application>
  <PresentationFormat>Widescreen</PresentationFormat>
  <Paragraphs>65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Automatic Block Planning System</vt:lpstr>
      <vt:lpstr>TECHNICAL APPROACH</vt:lpstr>
      <vt:lpstr>FEASIBILITY AND VIABILITY</vt:lpstr>
      <vt:lpstr>IMPACT AND BENEFITS</vt:lpstr>
      <vt:lpstr>RESEARCH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Sangeeta Saxena</cp:lastModifiedBy>
  <cp:revision>152</cp:revision>
  <dcterms:created xsi:type="dcterms:W3CDTF">2013-12-12T18:46:50Z</dcterms:created>
  <dcterms:modified xsi:type="dcterms:W3CDTF">2026-08-23T05:07:23Z</dcterms:modified>
  <cp:category/>
</cp:coreProperties>
</file>